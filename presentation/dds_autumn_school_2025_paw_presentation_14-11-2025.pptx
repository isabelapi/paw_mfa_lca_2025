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modernComment_106_FDED5EF8.xml" ContentType="application/vnd.ms-powerpoint.comments+xml"/>
  <Override PartName="/ppt/comments/modernComment_101_6001014.xml" ContentType="application/vnd.ms-powerpoint.comments+xml"/>
  <Override PartName="/ppt/comments/modernComment_102_CA4F73BD.xml" ContentType="application/vnd.ms-powerpoint.comments+xml"/>
  <Override PartName="/ppt/comments/modernComment_103_7C9AD750.xml" ContentType="application/vnd.ms-powerpoint.comments+xml"/>
  <Override PartName="/ppt/comments/modernComment_104_9C88742F.xml" ContentType="application/vnd.ms-powerpoint.comments+xml"/>
  <Override PartName="/ppt/comments/modernComment_105_5AC3AF9B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3" r:id="rId3"/>
    <p:sldId id="264" r:id="rId4"/>
    <p:sldId id="262" r:id="rId5"/>
    <p:sldId id="257" r:id="rId6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3344440-1645-F163-DD48-EE81A8C93DED}" name="David CLOUSIER" initials="DC" userId="S::david.clousier@list.lu::768240c1-c1f0-4ea5-ba36-477fb0372b0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52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84"/>
    <p:restoredTop sz="94730"/>
  </p:normalViewPr>
  <p:slideViewPr>
    <p:cSldViewPr snapToGrid="0">
      <p:cViewPr>
        <p:scale>
          <a:sx n="115" d="100"/>
          <a:sy n="115" d="100"/>
        </p:scale>
        <p:origin x="4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omments/modernComment_101_600101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0497F89-0A1E-495E-8D86-8ECDB068BF6E}" authorId="{83344440-1645-F163-DD48-EE81A8C93DED}" created="2025-11-13T18:53:00.02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00667412" sldId="257"/>
      <ac:picMk id="14" creationId="{6D96C345-5B47-EEA1-F8C7-D6F20EAAFF8B}"/>
    </ac:deMkLst>
    <p188:txBody>
      <a:bodyPr/>
      <a:lstStyle/>
      <a:p>
        <a:r>
          <a:rPr lang="en-GB"/>
          <a:t>High scenario, summed over everything else</a:t>
        </a:r>
      </a:p>
    </p188:txBody>
  </p188:cm>
</p188:cmLst>
</file>

<file path=ppt/comments/modernComment_102_CA4F73B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A99567E-D2E2-4117-A349-2826DF33C5CF}" authorId="{83344440-1645-F163-DD48-EE81A8C93DED}" created="2025-11-13T18:53:16.67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394204605" sldId="258"/>
      <ac:picMk id="3" creationId="{96FD3213-1AEE-D603-F9E2-58B952A3DA24}"/>
    </ac:deMkLst>
    <p188:txBody>
      <a:bodyPr/>
      <a:lstStyle/>
      <a:p>
        <a:r>
          <a:rPr lang="en-GB"/>
          <a:t>Low scenario, summed over everything else</a:t>
        </a:r>
      </a:p>
    </p188:txBody>
  </p188:cm>
</p188:cmLst>
</file>

<file path=ppt/comments/modernComment_103_7C9AD75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A7EADBB-460D-4F05-93AE-0ACD9FCF39B6}" authorId="{83344440-1645-F163-DD48-EE81A8C93DED}" created="2025-11-13T18:53:35.97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090522448" sldId="259"/>
      <ac:picMk id="3" creationId="{AFDB750F-6FB4-7635-C786-8FC851DAA611}"/>
    </ac:deMkLst>
    <p188:txBody>
      <a:bodyPr/>
      <a:lstStyle/>
      <a:p>
        <a:r>
          <a:rPr lang="en-GB"/>
          <a:t>2020 MFA, summed over everything else</a:t>
        </a:r>
      </a:p>
    </p188:txBody>
  </p188:cm>
</p188:cmLst>
</file>

<file path=ppt/comments/modernComment_104_9C88742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4147A11-01C7-4D2E-852E-992EC574BF15}" authorId="{83344440-1645-F163-DD48-EE81A8C93DED}" created="2025-11-13T18:54:00.54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626188335" sldId="260"/>
      <ac:picMk id="3" creationId="{1865928E-9A82-7D7F-B570-F36C38BCC06D}"/>
    </ac:deMkLst>
    <p188:txBody>
      <a:bodyPr/>
      <a:lstStyle/>
      <a:p>
        <a:r>
          <a:rPr lang="en-GB"/>
          <a:t>2035 MFA, summed over everything else</a:t>
        </a:r>
      </a:p>
    </p188:txBody>
  </p188:cm>
</p188:cmLst>
</file>

<file path=ppt/comments/modernComment_105_5AC3AF9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E5C627D-3384-45DB-A3CF-B118D1900EE5}" authorId="{83344440-1645-F163-DD48-EE81A8C93DED}" created="2025-11-13T18:54:17.75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522773915" sldId="261"/>
      <ac:picMk id="3" creationId="{BE855E42-AACD-6673-E0BE-465336C2F697}"/>
    </ac:deMkLst>
    <p188:txBody>
      <a:bodyPr/>
      <a:lstStyle/>
      <a:p>
        <a:r>
          <a:rPr lang="en-GB"/>
          <a:t>2045 MFA, summed over everything else</a:t>
        </a:r>
      </a:p>
    </p188:txBody>
  </p188:cm>
</p188:cmLst>
</file>

<file path=ppt/comments/modernComment_106_FDED5EF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E2F4514-BA01-4FEC-A3FD-2B58B04BB88E}" authorId="{83344440-1645-F163-DD48-EE81A8C93DED}" created="2025-11-13T18:54:53.23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260191992" sldId="262"/>
      <ac:picMk id="3" creationId="{1E195B2C-4136-46E6-671C-9CB75D1AE2E7}"/>
    </ac:deMkLst>
    <p188:txBody>
      <a:bodyPr/>
      <a:lstStyle/>
      <a:p>
        <a:r>
          <a:rPr lang="en-GB"/>
          <a:t>MFA sankey diagram, summed over everything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146035-E467-484C-A45B-E027918AA835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D929E6-8A8A-7849-B07E-EF3F10F499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2184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B32220-B75A-CD75-AF6D-95395D3CF2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1CE33FD-3844-A18D-A3C3-45AC058A37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C656FCF-BC7D-B981-8D47-7E234F408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19E53-477B-A343-ABC3-14A2AE86186D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4F798B2-64F4-B287-DCE4-76DE8E8BD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B561E34-B1DD-8933-E1DC-3AC348B19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F5207-2293-314B-95F1-12759B93D4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0250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2EE9AA-0C38-DE0E-C9AE-2448A1FF2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EE475EB-5F24-891B-3D5A-6D0C6BDF5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BF313A9-672F-F4C9-8E6A-788A4B6A0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19E53-477B-A343-ABC3-14A2AE86186D}" type="datetimeFigureOut">
              <a:rPr lang="fr-FR" smtClean="0"/>
              <a:t>14/11/2025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4EB8011-798F-13C2-99F6-688E40901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A0263A9-DE07-902E-1BF5-85D0518EC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F5207-2293-314B-95F1-12759B93D4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5473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71D09D-EF37-C019-205E-107944142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7A02383-203B-E8B1-DEC5-325B5E1554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43E7ADD-FC11-D920-4A92-A8318308C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19E53-477B-A343-ABC3-14A2AE86186D}" type="datetimeFigureOut">
              <a:rPr lang="fr-FR" smtClean="0"/>
              <a:t>14/11/2025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26F565B-CD92-114C-44D5-75E6455AB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730E2E2-6088-4B0C-D2AB-66262680B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F5207-2293-314B-95F1-12759B93D4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8084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437222-04BB-FEEC-5B1C-2B7E6DCE6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386D44A-9382-4323-14A1-812CDB79BC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37201B3-0C3C-6B20-3292-E9384B4E9F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77F179E-9E22-BE2F-ECAB-B286BE5A8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19E53-477B-A343-ABC3-14A2AE86186D}" type="datetimeFigureOut">
              <a:rPr lang="fr-FR" smtClean="0"/>
              <a:t>14/11/2025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600FB7E-F87C-3499-F034-C3DFB57A0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A74F6A3-F5B3-661C-4D54-21AE5EE82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F5207-2293-314B-95F1-12759B93D4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3264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4BB313-C41F-4D53-E867-90F0A95B6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FD2A2F6-B4C4-C442-EB58-223FC96A49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D8A8DFD-5AB9-D841-8983-321BF5637A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D84FF6A-22A7-2580-F626-0CCB83E32E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4DCFE44-D7B9-E8B6-0C6D-39BDA42801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3B3E07F-E770-52DF-66E9-853D6D8DA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19E53-477B-A343-ABC3-14A2AE86186D}" type="datetimeFigureOut">
              <a:rPr lang="fr-FR" smtClean="0"/>
              <a:t>14/11/2025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90B7F4A-58BE-8FA2-AB61-51E18FDFD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8D1549E-9DA9-C8BD-19C3-77C69B7E1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F5207-2293-314B-95F1-12759B93D4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0414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12830B-464B-5D1A-B70F-40FCCE07F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5505D01-1F1B-E552-3940-7ECF87EFE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19E53-477B-A343-ABC3-14A2AE86186D}" type="datetimeFigureOut">
              <a:rPr lang="fr-FR" smtClean="0"/>
              <a:t>14/11/2025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0829BCA-D5B1-F2D1-951E-204050D5D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8D70D0E-9C60-C86F-A5E4-93D6E855E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F5207-2293-314B-95F1-12759B93D4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9125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BF35484-1303-E7B5-D4F5-B0D48AF88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19E53-477B-A343-ABC3-14A2AE86186D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FBFAF14-DC17-CA87-FEC5-2453EBDFA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E310C38-6EF4-2BC2-88A2-710600472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r>
              <a:rPr lang="fr-FR" dirty="0"/>
              <a:t>| </a:t>
            </a:r>
            <a:fld id="{778F5207-2293-314B-95F1-12759B93D428}" type="slidenum">
              <a:rPr lang="fr-FR" smtClean="0">
                <a:latin typeface="Arial Rounded MT Bold" panose="020F0704030504030204" pitchFamily="34" charset="77"/>
              </a:rPr>
              <a:pPr/>
              <a:t>‹N°›</a:t>
            </a:fld>
            <a:r>
              <a:rPr lang="fr-FR" dirty="0"/>
              <a:t>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8EDC293-C216-780E-3A3D-D4644F0D67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2F2ED"/>
              </a:clrFrom>
              <a:clrTo>
                <a:srgbClr val="F2F2ED">
                  <a:alpha val="0"/>
                </a:srgbClr>
              </a:clrTo>
            </a:clrChange>
          </a:blip>
          <a:srcRect l="31106" t="22076" r="33913" b="22493"/>
          <a:stretch>
            <a:fillRect/>
          </a:stretch>
        </p:blipFill>
        <p:spPr>
          <a:xfrm>
            <a:off x="10476367" y="-28398"/>
            <a:ext cx="1276264" cy="1155641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BA8422BC-D2CA-4563-7EC8-C14A1269C8A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39369" y="136525"/>
            <a:ext cx="2125156" cy="825797"/>
          </a:xfrm>
          <a:prstGeom prst="rect">
            <a:avLst/>
          </a:prstGeom>
        </p:spPr>
      </p:pic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E1D1AD85-F868-0BBB-FC09-3A36C05C1D56}"/>
              </a:ext>
            </a:extLst>
          </p:cNvPr>
          <p:cNvCxnSpPr>
            <a:cxnSpLocks/>
            <a:stCxn id="6" idx="3"/>
            <a:endCxn id="5" idx="1"/>
          </p:cNvCxnSpPr>
          <p:nvPr userDrawn="1"/>
        </p:nvCxnSpPr>
        <p:spPr>
          <a:xfrm flipV="1">
            <a:off x="2564525" y="549423"/>
            <a:ext cx="7911842" cy="1"/>
          </a:xfrm>
          <a:prstGeom prst="line">
            <a:avLst/>
          </a:prstGeom>
          <a:ln>
            <a:solidFill>
              <a:srgbClr val="3D524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9438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5B7CF3-5BFA-953C-5A6B-D5E1131F3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5FD73C1-E6BD-F47C-F9EF-FDD7CA960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02312A3-D97A-0A65-78CB-039DD84A69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B8E5E51-375A-F1B4-0434-3380736BE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19E53-477B-A343-ABC3-14A2AE86186D}" type="datetimeFigureOut">
              <a:rPr lang="fr-FR" smtClean="0"/>
              <a:t>14/11/2025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243775F-61F7-1279-9177-2824EC40B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0F52457-B91A-38ED-9422-BCFE5BC2C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F5207-2293-314B-95F1-12759B93D4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6906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B064AC-AC6D-F952-D3F7-573556C64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5897318-6B9F-B51F-E657-080AF5081C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2CE455C-1A13-29EE-16D9-F4379472D0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C9A0911-6D78-FA57-53C6-A9403EF64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19E53-477B-A343-ABC3-14A2AE86186D}" type="datetimeFigureOut">
              <a:rPr lang="fr-FR" smtClean="0"/>
              <a:t>14/11/2025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898637E-888D-4841-0515-6F77C071C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B2EBFE6-3C63-CD0D-FD0F-98D7D23BA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F5207-2293-314B-95F1-12759B93D4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1618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1DDA1D-62AD-0BD8-4085-C8F378D51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1667E69-870A-08CF-616C-8BA6A295A3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A9CD500-9AE5-94DD-604F-697BE9A3D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19E53-477B-A343-ABC3-14A2AE86186D}" type="datetimeFigureOut">
              <a:rPr lang="fr-FR" smtClean="0"/>
              <a:t>14/11/2025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F6C48C5-3341-FAB8-CE33-FEA0BE9E2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3DC547B-F5AB-FC15-1DAA-35DFD0BBE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F5207-2293-314B-95F1-12759B93D4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9506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949C522-8F35-761C-1650-8492AD5732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DE1DD47-4FEA-DE44-F39C-595235C913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050B246-A80D-928C-7094-F5FAD0BA2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19E53-477B-A343-ABC3-14A2AE86186D}" type="datetimeFigureOut">
              <a:rPr lang="fr-FR" smtClean="0"/>
              <a:t>14/11/2025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12EDA3A-CD4D-B1C3-394D-8CCB23A0E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3835214-EE76-FDBA-EDDE-DC0B8E557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F5207-2293-314B-95F1-12759B93D4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8014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D2C86AF-46C8-0095-E5B1-72FC2E9B0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054C34C-3D1B-2770-8620-222470971F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F89CE61-C2FC-D81C-2609-0C58C60D48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119E53-477B-A343-ABC3-14A2AE86186D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F9068A8-5188-0F82-99FF-03DA19621B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0D1680F-8B17-8D80-FFE0-7B85353119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8F5207-2293-314B-95F1-12759B93D4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7589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microsoft.com/office/2018/10/relationships/comments" Target="../comments/modernComment_106_FDED5EF8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microsoft.com/office/2018/10/relationships/comments" Target="../comments/modernComment_101_600101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microsoft.com/office/2018/10/relationships/comments" Target="../comments/modernComment_102_CA4F73BD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microsoft.com/office/2018/10/relationships/comments" Target="../comments/modernComment_103_7C9AD750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microsoft.com/office/2018/10/relationships/comments" Target="../comments/modernComment_104_9C88742F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microsoft.com/office/2018/10/relationships/comments" Target="../comments/modernComment_105_5AC3AF9B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F4F33F2D-1A69-FE07-B8A6-616A195A693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28857" y="359008"/>
            <a:ext cx="4672065" cy="181548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CE805C04-ED01-EC0C-6850-92AB32AAB6E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2F2ED"/>
              </a:clrFrom>
              <a:clrTo>
                <a:srgbClr val="F2F2ED">
                  <a:alpha val="0"/>
                </a:srgbClr>
              </a:clrTo>
            </a:clrChange>
          </a:blip>
          <a:srcRect l="31106" t="22076" r="33913" b="22493"/>
          <a:stretch>
            <a:fillRect/>
          </a:stretch>
        </p:blipFill>
        <p:spPr>
          <a:xfrm>
            <a:off x="9292083" y="242235"/>
            <a:ext cx="2133938" cy="1932254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8064954F-6E6D-7500-2D66-2843A79C4CD9}"/>
              </a:ext>
            </a:extLst>
          </p:cNvPr>
          <p:cNvSpPr txBox="1"/>
          <p:nvPr/>
        </p:nvSpPr>
        <p:spPr>
          <a:xfrm>
            <a:off x="1098696" y="2890391"/>
            <a:ext cx="99946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rgbClr val="3D5243"/>
                </a:solidFill>
                <a:latin typeface="Arial Rounded MT Bold" panose="020F0704030504030204" pitchFamily="34" charset="77"/>
              </a:rPr>
              <a:t>P</a:t>
            </a:r>
            <a:r>
              <a:rPr lang="fr-FR" sz="2800" dirty="0">
                <a:solidFill>
                  <a:srgbClr val="3D5243"/>
                </a:solidFill>
                <a:latin typeface="+mj-lt"/>
              </a:rPr>
              <a:t>ROSPECTIVE </a:t>
            </a:r>
            <a:r>
              <a:rPr lang="fr-FR" sz="3200" dirty="0">
                <a:solidFill>
                  <a:srgbClr val="3D5243"/>
                </a:solidFill>
                <a:latin typeface="Arial Rounded MT Bold" panose="020F0704030504030204" pitchFamily="34" charset="77"/>
              </a:rPr>
              <a:t>A</a:t>
            </a:r>
            <a:r>
              <a:rPr lang="fr-FR" sz="2800" dirty="0">
                <a:solidFill>
                  <a:srgbClr val="3D5243"/>
                </a:solidFill>
                <a:latin typeface="+mj-lt"/>
              </a:rPr>
              <a:t>SSESSEMENT OF </a:t>
            </a:r>
            <a:r>
              <a:rPr lang="fr-FR" sz="3200" dirty="0">
                <a:solidFill>
                  <a:srgbClr val="3D5243"/>
                </a:solidFill>
                <a:latin typeface="Arial Rounded MT Bold" panose="020F0704030504030204" pitchFamily="34" charset="77"/>
              </a:rPr>
              <a:t>W</a:t>
            </a:r>
            <a:r>
              <a:rPr lang="fr-FR" sz="2800" dirty="0">
                <a:solidFill>
                  <a:srgbClr val="3D5243"/>
                </a:solidFill>
                <a:latin typeface="+mj-lt"/>
              </a:rPr>
              <a:t>ASTEWATER TREATMENT </a:t>
            </a:r>
          </a:p>
          <a:p>
            <a:pPr algn="ctr"/>
            <a:r>
              <a:rPr lang="fr-FR" sz="2800" dirty="0">
                <a:solidFill>
                  <a:srgbClr val="3D5243"/>
                </a:solidFill>
                <a:latin typeface="+mj-lt"/>
              </a:rPr>
              <a:t>IN GERMANY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EE27A7C-7424-C6C1-E914-3C3716D6EFAC}"/>
              </a:ext>
            </a:extLst>
          </p:cNvPr>
          <p:cNvSpPr txBox="1"/>
          <p:nvPr/>
        </p:nvSpPr>
        <p:spPr>
          <a:xfrm>
            <a:off x="428857" y="4929332"/>
            <a:ext cx="47899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rgbClr val="3D5243"/>
                </a:solidFill>
                <a:latin typeface="Arial Rounded MT Bold" panose="020F0704030504030204" pitchFamily="34" charset="77"/>
              </a:rPr>
              <a:t>Group </a:t>
            </a:r>
            <a:r>
              <a:rPr lang="fr-FR" sz="1600" dirty="0" err="1">
                <a:solidFill>
                  <a:srgbClr val="3D5243"/>
                </a:solidFill>
                <a:latin typeface="Arial Rounded MT Bold" panose="020F0704030504030204" pitchFamily="34" charset="77"/>
              </a:rPr>
              <a:t>members</a:t>
            </a:r>
            <a:r>
              <a:rPr lang="fr-FR" sz="1600" dirty="0">
                <a:solidFill>
                  <a:srgbClr val="3D5243"/>
                </a:solidFill>
                <a:latin typeface="Arial Rounded MT Bold" panose="020F0704030504030204" pitchFamily="34" charset="77"/>
              </a:rPr>
              <a:t>:</a:t>
            </a: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3D5243"/>
                </a:solidFill>
                <a:latin typeface="+mj-lt"/>
              </a:rPr>
              <a:t>Sabrina </a:t>
            </a:r>
            <a:r>
              <a:rPr lang="fr-FR" sz="1600" dirty="0" err="1">
                <a:solidFill>
                  <a:srgbClr val="3D5243"/>
                </a:solidFill>
                <a:latin typeface="+mj-lt"/>
              </a:rPr>
              <a:t>Grüner</a:t>
            </a:r>
            <a:endParaRPr lang="fr-FR" sz="1600" dirty="0">
              <a:solidFill>
                <a:srgbClr val="3D5243"/>
              </a:solidFill>
              <a:latin typeface="+mj-lt"/>
            </a:endParaRP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3D5243"/>
                </a:solidFill>
                <a:latin typeface="+mj-lt"/>
              </a:rPr>
              <a:t>David </a:t>
            </a:r>
            <a:r>
              <a:rPr lang="fr-FR" sz="1600" dirty="0" err="1">
                <a:solidFill>
                  <a:srgbClr val="3D5243"/>
                </a:solidFill>
                <a:latin typeface="+mj-lt"/>
              </a:rPr>
              <a:t>Clousier</a:t>
            </a:r>
            <a:endParaRPr lang="fr-FR" sz="1600" dirty="0">
              <a:solidFill>
                <a:srgbClr val="3D5243"/>
              </a:solidFill>
              <a:latin typeface="+mj-lt"/>
            </a:endParaRP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fr-FR" sz="1600" dirty="0" err="1">
                <a:solidFill>
                  <a:srgbClr val="3D5243"/>
                </a:solidFill>
                <a:latin typeface="+mj-lt"/>
              </a:rPr>
              <a:t>Isabela</a:t>
            </a:r>
            <a:r>
              <a:rPr lang="fr-FR" sz="1600" dirty="0">
                <a:solidFill>
                  <a:srgbClr val="3D5243"/>
                </a:solidFill>
                <a:latin typeface="+mj-lt"/>
              </a:rPr>
              <a:t> </a:t>
            </a:r>
            <a:r>
              <a:rPr lang="fr-FR" sz="1600" dirty="0" err="1">
                <a:solidFill>
                  <a:srgbClr val="3D5243"/>
                </a:solidFill>
                <a:latin typeface="+mj-lt"/>
              </a:rPr>
              <a:t>Pichardo</a:t>
            </a:r>
            <a:r>
              <a:rPr lang="fr-FR" sz="1600" dirty="0">
                <a:solidFill>
                  <a:srgbClr val="3D5243"/>
                </a:solidFill>
                <a:latin typeface="+mj-lt"/>
              </a:rPr>
              <a:t>-Velázquez</a:t>
            </a: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3D5243"/>
                </a:solidFill>
                <a:latin typeface="+mj-lt"/>
              </a:rPr>
              <a:t>Matthias Welker</a:t>
            </a: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3D5243"/>
                </a:solidFill>
                <a:latin typeface="+mj-lt"/>
              </a:rPr>
              <a:t>Mamy </a:t>
            </a:r>
            <a:r>
              <a:rPr lang="fr-FR" sz="1600" dirty="0" err="1">
                <a:solidFill>
                  <a:srgbClr val="3D5243"/>
                </a:solidFill>
                <a:latin typeface="+mj-lt"/>
              </a:rPr>
              <a:t>Harimisa</a:t>
            </a:r>
            <a:r>
              <a:rPr lang="fr-FR" sz="1600" dirty="0">
                <a:solidFill>
                  <a:srgbClr val="3D5243"/>
                </a:solidFill>
                <a:latin typeface="+mj-lt"/>
              </a:rPr>
              <a:t> </a:t>
            </a:r>
            <a:r>
              <a:rPr lang="fr-FR" sz="1600" dirty="0" err="1">
                <a:solidFill>
                  <a:srgbClr val="3D5243"/>
                </a:solidFill>
                <a:latin typeface="+mj-lt"/>
              </a:rPr>
              <a:t>Radanielina</a:t>
            </a:r>
            <a:endParaRPr lang="fr-FR" sz="1600" dirty="0">
              <a:solidFill>
                <a:srgbClr val="3D5243"/>
              </a:solidFill>
              <a:latin typeface="+mj-lt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4F88535F-E430-8CE2-1F7E-000347A7E5DA}"/>
              </a:ext>
            </a:extLst>
          </p:cNvPr>
          <p:cNvSpPr txBox="1"/>
          <p:nvPr/>
        </p:nvSpPr>
        <p:spPr>
          <a:xfrm>
            <a:off x="8442604" y="6160438"/>
            <a:ext cx="30837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600" dirty="0" err="1">
                <a:solidFill>
                  <a:srgbClr val="3D5243"/>
                </a:solidFill>
                <a:latin typeface="Arial Rounded MT Bold" panose="020F0704030504030204" pitchFamily="34" charset="77"/>
              </a:rPr>
              <a:t>November</a:t>
            </a:r>
            <a:r>
              <a:rPr lang="fr-FR" sz="1600" dirty="0">
                <a:solidFill>
                  <a:srgbClr val="3D5243"/>
                </a:solidFill>
                <a:latin typeface="Arial Rounded MT Bold" panose="020F0704030504030204" pitchFamily="34" charset="77"/>
              </a:rPr>
              <a:t> 14th, 2025 </a:t>
            </a:r>
            <a:endParaRPr lang="fr-FR" sz="1600" dirty="0">
              <a:solidFill>
                <a:srgbClr val="3D5243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54542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0166E-019F-2F80-CD13-7E745DD2F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525A14F9-2847-9D0C-84C6-5079A96276B6}"/>
              </a:ext>
            </a:extLst>
          </p:cNvPr>
          <p:cNvSpPr txBox="1"/>
          <p:nvPr/>
        </p:nvSpPr>
        <p:spPr>
          <a:xfrm>
            <a:off x="557560" y="1271239"/>
            <a:ext cx="21285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77"/>
              </a:rPr>
              <a:t>OVERVIEW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AFF4E7E-FF8B-7A6A-9E38-17F4300EE873}"/>
              </a:ext>
            </a:extLst>
          </p:cNvPr>
          <p:cNvSpPr txBox="1"/>
          <p:nvPr/>
        </p:nvSpPr>
        <p:spPr>
          <a:xfrm>
            <a:off x="1918010" y="1970048"/>
            <a:ext cx="9166302" cy="26108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800" noProof="0" dirty="0">
                <a:solidFill>
                  <a:schemeClr val="bg2">
                    <a:lumMod val="25000"/>
                  </a:schemeClr>
                </a:solidFill>
                <a:latin typeface="+mj-lt"/>
              </a:rPr>
              <a:t>Context and objectives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800" noProof="0" dirty="0">
                <a:solidFill>
                  <a:schemeClr val="bg2">
                    <a:lumMod val="25000"/>
                  </a:schemeClr>
                </a:solidFill>
                <a:latin typeface="+mj-lt"/>
              </a:rPr>
              <a:t>Methodology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solidFill>
                  <a:schemeClr val="bg2">
                    <a:lumMod val="25000"/>
                  </a:schemeClr>
                </a:solidFill>
                <a:latin typeface="+mj-lt"/>
              </a:rPr>
              <a:t>Results and discussion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800" noProof="0" dirty="0">
                <a:solidFill>
                  <a:schemeClr val="bg2">
                    <a:lumMod val="25000"/>
                  </a:schemeClr>
                </a:solidFill>
                <a:latin typeface="+mj-lt"/>
              </a:rPr>
              <a:t>Conclusion and perspectives</a:t>
            </a:r>
          </a:p>
        </p:txBody>
      </p:sp>
    </p:spTree>
    <p:extLst>
      <p:ext uri="{BB962C8B-B14F-4D97-AF65-F5344CB8AC3E}">
        <p14:creationId xmlns:p14="http://schemas.microsoft.com/office/powerpoint/2010/main" val="482031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0AE3C-22BA-EB97-E7FD-4C724C9DD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B6E514E3-2BF3-E6DD-311D-973ACA022B2A}"/>
              </a:ext>
            </a:extLst>
          </p:cNvPr>
          <p:cNvSpPr txBox="1"/>
          <p:nvPr/>
        </p:nvSpPr>
        <p:spPr>
          <a:xfrm>
            <a:off x="557560" y="1271239"/>
            <a:ext cx="3841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77"/>
              </a:rPr>
              <a:t>SYSTEM DEFINITION</a:t>
            </a:r>
            <a:endParaRPr lang="en-US" sz="2800" noProof="0" dirty="0">
              <a:solidFill>
                <a:schemeClr val="bg2">
                  <a:lumMod val="25000"/>
                </a:schemeClr>
              </a:solidFill>
              <a:latin typeface="Arial Rounded MT Bold" panose="020F0704030504030204" pitchFamily="34" charset="77"/>
            </a:endParaRPr>
          </a:p>
        </p:txBody>
      </p:sp>
      <p:pic>
        <p:nvPicPr>
          <p:cNvPr id="171" name="Image 170">
            <a:extLst>
              <a:ext uri="{FF2B5EF4-FFF2-40B4-BE49-F238E27FC236}">
                <a16:creationId xmlns:a16="http://schemas.microsoft.com/office/drawing/2014/main" id="{0D457CA9-73F5-BC78-2F95-3D73575FE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383" y="1794459"/>
            <a:ext cx="9075234" cy="4930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788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different colored lines&#10;&#10;AI-generated content may be incorrect.">
            <a:extLst>
              <a:ext uri="{FF2B5EF4-FFF2-40B4-BE49-F238E27FC236}">
                <a16:creationId xmlns:a16="http://schemas.microsoft.com/office/drawing/2014/main" id="{1E195B2C-4136-46E6-671C-9CB75D1AE2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08046"/>
            <a:ext cx="12192000" cy="344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19199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5C4411C-14CA-9CDC-4576-EED7800DE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r-FR" dirty="0">
                <a:latin typeface="Arial Rounded MT Bold" panose="020F0704030504030204" pitchFamily="34" charset="77"/>
              </a:rPr>
              <a:t> | </a:t>
            </a:r>
            <a:fld id="{11681171-7214-0347-ABE7-0EB6FB806A12}" type="slidenum">
              <a:rPr lang="fr-FR">
                <a:latin typeface="Arial Rounded MT Bold" panose="020F0704030504030204" pitchFamily="34" charset="77"/>
              </a:rPr>
              <a:t>5</a:t>
            </a:fld>
            <a:endParaRPr lang="fr-FR" dirty="0">
              <a:latin typeface="Arial Rounded MT Bold" panose="020F0704030504030204" pitchFamily="34" charset="77"/>
            </a:endParaRPr>
          </a:p>
        </p:txBody>
      </p:sp>
      <p:pic>
        <p:nvPicPr>
          <p:cNvPr id="14" name="Picture 13" descr="A close-up of a graph&#10;&#10;AI-generated content may be incorrect.">
            <a:extLst>
              <a:ext uri="{FF2B5EF4-FFF2-40B4-BE49-F238E27FC236}">
                <a16:creationId xmlns:a16="http://schemas.microsoft.com/office/drawing/2014/main" id="{6D96C345-5B47-EEA1-F8C7-D6F20EAAFF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26642"/>
            <a:ext cx="12192000" cy="380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6741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different colored lines&#10;&#10;AI-generated content may be incorrect.">
            <a:extLst>
              <a:ext uri="{FF2B5EF4-FFF2-40B4-BE49-F238E27FC236}">
                <a16:creationId xmlns:a16="http://schemas.microsoft.com/office/drawing/2014/main" id="{96FD3213-1AEE-D603-F9E2-58B952A3DA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26642"/>
            <a:ext cx="12192000" cy="380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20460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different colored lines&#10;&#10;AI-generated content may be incorrect.">
            <a:extLst>
              <a:ext uri="{FF2B5EF4-FFF2-40B4-BE49-F238E27FC236}">
                <a16:creationId xmlns:a16="http://schemas.microsoft.com/office/drawing/2014/main" id="{AFDB750F-6FB4-7635-C786-8FC851DAA6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26642"/>
            <a:ext cx="12192000" cy="380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52244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different colored lines&#10;&#10;AI-generated content may be incorrect.">
            <a:extLst>
              <a:ext uri="{FF2B5EF4-FFF2-40B4-BE49-F238E27FC236}">
                <a16:creationId xmlns:a16="http://schemas.microsoft.com/office/drawing/2014/main" id="{1865928E-9A82-7D7F-B570-F36C38BCC0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26642"/>
            <a:ext cx="12192000" cy="380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18833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diagram&#10;&#10;AI-generated content may be incorrect.">
            <a:extLst>
              <a:ext uri="{FF2B5EF4-FFF2-40B4-BE49-F238E27FC236}">
                <a16:creationId xmlns:a16="http://schemas.microsoft.com/office/drawing/2014/main" id="{BE855E42-AACD-6673-E0BE-465336C2F6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26642"/>
            <a:ext cx="12192000" cy="380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77391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796</TotalTime>
  <Words>41</Words>
  <Application>Microsoft Macintosh PowerPoint</Application>
  <PresentationFormat>Grand écran</PresentationFormat>
  <Paragraphs>16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4" baseType="lpstr">
      <vt:lpstr>Arial</vt:lpstr>
      <vt:lpstr>Arial Rounded MT Bold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Mamy</dc:creator>
  <cp:lastModifiedBy>Mamy</cp:lastModifiedBy>
  <cp:revision>12</cp:revision>
  <dcterms:created xsi:type="dcterms:W3CDTF">2025-11-13T16:08:56Z</dcterms:created>
  <dcterms:modified xsi:type="dcterms:W3CDTF">2025-11-14T08:54:35Z</dcterms:modified>
</cp:coreProperties>
</file>